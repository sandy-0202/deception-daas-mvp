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79" r:id="rId9"/>
    <p:sldId id="280" r:id="rId10"/>
    <p:sldId id="277" r:id="rId11"/>
    <p:sldId id="282" r:id="rId12"/>
    <p:sldId id="278" r:id="rId13"/>
    <p:sldId id="283" r:id="rId14"/>
    <p:sldId id="284" r:id="rId15"/>
    <p:sldId id="285" r:id="rId16"/>
    <p:sldId id="296" r:id="rId17"/>
    <p:sldId id="294" r:id="rId18"/>
    <p:sldId id="295" r:id="rId19"/>
    <p:sldId id="286" r:id="rId20"/>
    <p:sldId id="288" r:id="rId21"/>
    <p:sldId id="297" r:id="rId22"/>
    <p:sldId id="298" r:id="rId23"/>
    <p:sldId id="299" r:id="rId24"/>
    <p:sldId id="287" r:id="rId25"/>
    <p:sldId id="289" r:id="rId26"/>
    <p:sldId id="290" r:id="rId27"/>
    <p:sldId id="291" r:id="rId28"/>
    <p:sldId id="292" r:id="rId29"/>
    <p:sldId id="293" r:id="rId30"/>
    <p:sldId id="268" r:id="rId31"/>
    <p:sldId id="262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UlCkqfCIFtXKdETeRKAfyO+X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60d35f11e3_3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60d35f11e3_3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2b5bc7c5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b2b5bc7c5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2b5bc7c5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b2b5bc7c5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0d35f11e3_3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60d35f11e3_3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0d35f11e3_3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60d35f11e3_3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069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0d35f11e3_3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60d35f11e3_3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197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60d35f11e3_15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60d35f11e3_15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60d35f11e3_15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160d35f11e3_154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74300" y="2892650"/>
            <a:ext cx="11843400" cy="9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32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DaaS: An Adaptive AI-Powered Honeypot for Cyber Defence</a:t>
            </a:r>
            <a:endParaRPr sz="32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223470" y="3769417"/>
            <a:ext cx="418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 </a:t>
            </a: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sz="36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9865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0" y="4975619"/>
            <a:ext cx="48189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Team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SANTHOSH S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312822205041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TAMIZHARASU M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312822205052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753098" y="4975616"/>
            <a:ext cx="65622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KAMATCHISARANYA 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</a:t>
            </a:r>
            <a:r>
              <a:rPr lang="en-US"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isstant</a:t>
            </a: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Professor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 of IT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Agni College of Technology</a:t>
            </a: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3650" y="1808108"/>
            <a:ext cx="4624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IT3811 - Project work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/>
              <a:t>DATE : 23/03/2026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1958749" y="1226448"/>
            <a:ext cx="827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 dirty="0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23850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Scope &amp; Objective of Project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Hardware and Software Requirements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List of Modules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Module Explanation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Algorithm Details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Coding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Results &amp; Conclusion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" name="Google Shape;98;p2"/>
          <p:cNvCxnSpPr>
            <a:cxnSpLocks/>
          </p:cNvCxnSpPr>
          <p:nvPr/>
        </p:nvCxnSpPr>
        <p:spPr>
          <a:xfrm flipV="1">
            <a:off x="931109" y="1548862"/>
            <a:ext cx="10145600" cy="1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60d35f11e3_30_2"/>
          <p:cNvSpPr txBox="1">
            <a:spLocks noGrp="1"/>
          </p:cNvSpPr>
          <p:nvPr>
            <p:ph type="title"/>
          </p:nvPr>
        </p:nvSpPr>
        <p:spPr>
          <a:xfrm>
            <a:off x="83819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" name="Google Shape;104;g160d35f11e3_30_2"/>
          <p:cNvCxnSpPr/>
          <p:nvPr/>
        </p:nvCxnSpPr>
        <p:spPr>
          <a:xfrm>
            <a:off x="838199" y="1102053"/>
            <a:ext cx="11059999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g160d35f11e3_30_2"/>
          <p:cNvSpPr txBox="1">
            <a:spLocks noGrp="1"/>
          </p:cNvSpPr>
          <p:nvPr>
            <p:ph type="body" idx="1"/>
          </p:nvPr>
        </p:nvSpPr>
        <p:spPr>
          <a:xfrm>
            <a:off x="633750" y="1479925"/>
            <a:ext cx="11264400" cy="4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Cyberattacks targeting web applications are a major cause of large-scale data theft and financial losses worldwide.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Attackers continuously evolve their strategies using advanced reconnaissance, automated exploitation, and polymorphic malware that bypass conventional defenses.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Traditional security solutions such as firewalls and intrusion detection systems are valuable but mostly reactive and ineffective against adaptive attack vectors.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Honeypots can mislead attackers and collect intelligence, but their static nature limits effectiveness against dynamic threats.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study introduces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Deception-as-a-Service (DaaS)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an adaptive, AI-powered honeypot network designed to be scalable, cost-effective, and accessible for organizations of all sizes.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proposed system integrates lightweight containerized honeypots such as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Cowrie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Dionaea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with machine-learning-based adaptive controllers.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b5bc7c5f_0_4"/>
          <p:cNvSpPr txBox="1">
            <a:spLocks noGrp="1"/>
          </p:cNvSpPr>
          <p:nvPr>
            <p:ph type="title"/>
          </p:nvPr>
        </p:nvSpPr>
        <p:spPr>
          <a:xfrm>
            <a:off x="838199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1" name="Google Shape;111;g3b2b5bc7c5f_0_4"/>
          <p:cNvCxnSpPr/>
          <p:nvPr/>
        </p:nvCxnSpPr>
        <p:spPr>
          <a:xfrm>
            <a:off x="838199" y="1102053"/>
            <a:ext cx="110601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g3b2b5bc7c5f_0_4"/>
          <p:cNvSpPr txBox="1">
            <a:spLocks noGrp="1"/>
          </p:cNvSpPr>
          <p:nvPr>
            <p:ph type="body" idx="1"/>
          </p:nvPr>
        </p:nvSpPr>
        <p:spPr>
          <a:xfrm>
            <a:off x="633750" y="1479925"/>
            <a:ext cx="11264700" cy="3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Isolation Forest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is used for anomaly detection, while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is used for supervised threat classification.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Flask-based orchestration layer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enables real-time behavioral adaptation of the honeypot system.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ELK stack (Elasticsearch, Logstash, Kibana)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provides comprehensive log analysis and visualization.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proposed approach democratizes cybersecurity by making advanced deception technologies affordable and practical.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system is suitable for </a:t>
            </a: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small and medium enterprises, startups, and research institutions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overall result is reduced organizational risk and improved resilience against modern cyber threats through proactive defense intelligence and continuous learning mechanisms.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g3b2b5bc7c5f_0_4"/>
          <p:cNvSpPr txBox="1"/>
          <p:nvPr/>
        </p:nvSpPr>
        <p:spPr>
          <a:xfrm>
            <a:off x="838200" y="5241925"/>
            <a:ext cx="12606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Keywords: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g3b2b5bc7c5f_0_4"/>
          <p:cNvSpPr txBox="1"/>
          <p:nvPr/>
        </p:nvSpPr>
        <p:spPr>
          <a:xfrm>
            <a:off x="838100" y="5619800"/>
            <a:ext cx="110601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Adaptive Honeypot, AI-Powered Security, Deception-as-a-Service, Machine Learning, Isolation Forest, Random Forest, Cyber Defense, SME Security.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75914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and Scope of the Project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0" name="Google Shape;120;p15"/>
          <p:cNvCxnSpPr/>
          <p:nvPr/>
        </p:nvCxnSpPr>
        <p:spPr>
          <a:xfrm>
            <a:off x="214744" y="1403389"/>
            <a:ext cx="11059999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15"/>
          <p:cNvSpPr txBox="1"/>
          <p:nvPr/>
        </p:nvSpPr>
        <p:spPr>
          <a:xfrm>
            <a:off x="759150" y="1554825"/>
            <a:ext cx="1107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59150" y="2106450"/>
            <a:ext cx="105156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develop an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adaptive, AI-powered honeypot system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proactive cyber defense.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Deception-as-a-Service (DaaS)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that safely attracts and monitors attackers.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overcome the limitations of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honeypots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enabling real-time behavioral adaptation.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apply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techniques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anomaly detection and threat classification.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improve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 detection accuracy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enhance intelligence collection from attacker interactions.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a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and scalable cybersecurity solution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suitable for organizations of all sizes.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2b5bc7c5f_0_16"/>
          <p:cNvSpPr txBox="1">
            <a:spLocks noGrp="1"/>
          </p:cNvSpPr>
          <p:nvPr>
            <p:ph type="title"/>
          </p:nvPr>
        </p:nvSpPr>
        <p:spPr>
          <a:xfrm>
            <a:off x="759143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dirty="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and Scope of the Project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" name="Google Shape;128;g3b2b5bc7c5f_0_16"/>
          <p:cNvCxnSpPr/>
          <p:nvPr/>
        </p:nvCxnSpPr>
        <p:spPr>
          <a:xfrm>
            <a:off x="214744" y="1403389"/>
            <a:ext cx="110601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g3b2b5bc7c5f_0_16"/>
          <p:cNvSpPr txBox="1"/>
          <p:nvPr/>
        </p:nvSpPr>
        <p:spPr>
          <a:xfrm>
            <a:off x="759150" y="1554825"/>
            <a:ext cx="8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g3b2b5bc7c5f_0_16"/>
          <p:cNvSpPr txBox="1"/>
          <p:nvPr/>
        </p:nvSpPr>
        <p:spPr>
          <a:xfrm>
            <a:off x="759150" y="1956550"/>
            <a:ext cx="105156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and network-based attacks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especially SSH-based intrusion attempts.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containerized honeypots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 Cowrie and Dionaea for lightweight and flexible deployment.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Employs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Isolation Forest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anomaly detection and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supervised threat classification.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a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Flask-based orchestration layer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dynamic system adaptation.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the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ELK stack (Elasticsearch, Logstash, Kibana)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centralized log analysis and visualization.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Targets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and medium enterprises, startups, and research institutions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seeking affordable cybersecurity solutions.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foundation for future expansion into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and enterprise-scale security systems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60d35f11e3_30_8"/>
          <p:cNvSpPr txBox="1">
            <a:spLocks noGrp="1"/>
          </p:cNvSpPr>
          <p:nvPr>
            <p:ph type="title"/>
          </p:nvPr>
        </p:nvSpPr>
        <p:spPr>
          <a:xfrm>
            <a:off x="93111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3876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solidFill>
                <a:srgbClr val="3876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Google Shape;108;g160d35f11e3_30_8"/>
          <p:cNvCxnSpPr>
            <a:cxnSpLocks/>
          </p:cNvCxnSpPr>
          <p:nvPr/>
        </p:nvCxnSpPr>
        <p:spPr>
          <a:xfrm>
            <a:off x="931110" y="1111171"/>
            <a:ext cx="1061319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ACF0EC-7292-C2CA-73FF-6B9E069CF734}"/>
              </a:ext>
            </a:extLst>
          </p:cNvPr>
          <p:cNvSpPr txBox="1"/>
          <p:nvPr/>
        </p:nvSpPr>
        <p:spPr>
          <a:xfrm>
            <a:off x="931110" y="1902599"/>
            <a:ext cx="106131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spcBef>
                <a:spcPts val="1200"/>
              </a:spcBef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are increasing rapidly and are becoming more complex than traditional security systems can handle.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detect intrusions only after systems or data are already compromised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Honeypots help by attracting attackers to fake systems instead of real servers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honeypot solutions are static and do not adapt to attacker behavior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Deception-as-a-Service, an AI-powered honeypot network that adapts in real time.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mislead attackers, collect threat intelligence, and alert defenders early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60d35f11e3_30_8"/>
          <p:cNvSpPr txBox="1">
            <a:spLocks noGrp="1"/>
          </p:cNvSpPr>
          <p:nvPr>
            <p:ph type="title"/>
          </p:nvPr>
        </p:nvSpPr>
        <p:spPr>
          <a:xfrm>
            <a:off x="931110" y="0"/>
            <a:ext cx="10515600" cy="78658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3876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b="1" dirty="0">
              <a:solidFill>
                <a:srgbClr val="3876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Google Shape;108;g160d35f11e3_30_8"/>
          <p:cNvCxnSpPr>
            <a:cxnSpLocks/>
          </p:cNvCxnSpPr>
          <p:nvPr/>
        </p:nvCxnSpPr>
        <p:spPr>
          <a:xfrm>
            <a:off x="931110" y="688659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191A7A-0CB0-1DAE-5D82-BCB279B7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30690"/>
              </p:ext>
            </p:extLst>
          </p:nvPr>
        </p:nvGraphicFramePr>
        <p:xfrm>
          <a:off x="0" y="740639"/>
          <a:ext cx="12191998" cy="57858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3889">
                  <a:extLst>
                    <a:ext uri="{9D8B030D-6E8A-4147-A177-3AD203B41FA5}">
                      <a16:colId xmlns:a16="http://schemas.microsoft.com/office/drawing/2014/main" val="3095355324"/>
                    </a:ext>
                  </a:extLst>
                </a:gridCol>
                <a:gridCol w="1109272">
                  <a:extLst>
                    <a:ext uri="{9D8B030D-6E8A-4147-A177-3AD203B41FA5}">
                      <a16:colId xmlns:a16="http://schemas.microsoft.com/office/drawing/2014/main" val="1604945134"/>
                    </a:ext>
                  </a:extLst>
                </a:gridCol>
                <a:gridCol w="614596">
                  <a:extLst>
                    <a:ext uri="{9D8B030D-6E8A-4147-A177-3AD203B41FA5}">
                      <a16:colId xmlns:a16="http://schemas.microsoft.com/office/drawing/2014/main" val="2585100959"/>
                    </a:ext>
                  </a:extLst>
                </a:gridCol>
                <a:gridCol w="2188564">
                  <a:extLst>
                    <a:ext uri="{9D8B030D-6E8A-4147-A177-3AD203B41FA5}">
                      <a16:colId xmlns:a16="http://schemas.microsoft.com/office/drawing/2014/main" val="2554951320"/>
                    </a:ext>
                  </a:extLst>
                </a:gridCol>
                <a:gridCol w="2983043">
                  <a:extLst>
                    <a:ext uri="{9D8B030D-6E8A-4147-A177-3AD203B41FA5}">
                      <a16:colId xmlns:a16="http://schemas.microsoft.com/office/drawing/2014/main" val="1819186196"/>
                    </a:ext>
                  </a:extLst>
                </a:gridCol>
                <a:gridCol w="1843790">
                  <a:extLst>
                    <a:ext uri="{9D8B030D-6E8A-4147-A177-3AD203B41FA5}">
                      <a16:colId xmlns:a16="http://schemas.microsoft.com/office/drawing/2014/main" val="1939775077"/>
                    </a:ext>
                  </a:extLst>
                </a:gridCol>
                <a:gridCol w="1758844">
                  <a:extLst>
                    <a:ext uri="{9D8B030D-6E8A-4147-A177-3AD203B41FA5}">
                      <a16:colId xmlns:a16="http://schemas.microsoft.com/office/drawing/2014/main" val="4251395817"/>
                    </a:ext>
                  </a:extLst>
                </a:gridCol>
              </a:tblGrid>
              <a:tr h="21334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Title of the Paper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Authors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Methodology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Key Findings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Limitations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</a:rPr>
                        <a:t>Research Gap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9666" marR="39666" marT="24791" marB="247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03538"/>
                  </a:ext>
                </a:extLst>
              </a:tr>
              <a:tr h="559716">
                <a:tc>
                  <a:txBody>
                    <a:bodyPr/>
                    <a:lstStyle/>
                    <a:p>
                      <a:pPr algn="ctr"/>
                      <a:r>
                        <a:rPr lang="en-IN" sz="115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Survey of Contemporary Open-Source Honeypots, Frameworks and Tools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N. </a:t>
                      </a:r>
                      <a:r>
                        <a:rPr lang="en-IN" sz="115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Ilg</a:t>
                      </a:r>
                      <a:r>
                        <a:rPr lang="en-IN" sz="115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P. </a:t>
                      </a:r>
                      <a:r>
                        <a:rPr lang="en-IN" sz="115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Duplys</a:t>
                      </a:r>
                      <a:r>
                        <a:rPr lang="en-IN" sz="115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D. </a:t>
                      </a:r>
                      <a:r>
                        <a:rPr lang="en-IN" sz="1150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Sisejkovic</a:t>
                      </a:r>
                      <a:r>
                        <a:rPr lang="en-IN" sz="115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M. Menth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2E7D3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Systematic survey of open-source honeypot software including Cowrie, Dionaea and MHN; evaluates logging, deployment and evasion resistance.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Cowrie is the leading SSH honeypot with JSON logging; Dionaea is standard for malware capture; static honeypots are fingerprinted within minutes.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 adaptive capability reviewed; no ML-based detection or response pipeline proposed.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Integrated adaptive layer combining open-source honeypots with real-time ML reconfiguration is needed.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147778"/>
                  </a:ext>
                </a:extLst>
              </a:tr>
              <a:tr h="975245"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Survey on Honeypot Software and Data Analysis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M. Nawrocki, M. Wahlisch, T. C. Schmidt, C. Keil, J. Schonfelder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b="1" dirty="0">
                          <a:solidFill>
                            <a:srgbClr val="2E7D3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2016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Taxonomic classification of honeypots (low/medium/high interaction); reviews feature engineering and analysis methods on session logs.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Session length, command count, and download attempts are the strongest attacker profiling features; unsupervised methods preferred without labels.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Pre-dates deep learning; no adaptation layer; limited ELK pipeline coverage.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Automated feature extraction pipelines feeding directly into real-time honeypot behaviour control are absent.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376135"/>
                  </a:ext>
                </a:extLst>
              </a:tr>
              <a:tr h="975245"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Using Reinforcement Learning to Conceal Honeypot Functionality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S. Dowling, M. Schukat, E. Barrett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2E7D3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SARSA RL agent on modified Cowrie SSH honeypot (HARM); learns command responses that maximise attacker engagement across scripted attack episodes.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RL-based adaptive responses increase attacker engagement vs. static honeypot; Cowrie is a viable platform for response adaptation.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Tested only on automated malware; full RL pipeline is complex for small lab deployments.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Lightweight adaptive systems achieving similar benefits without full RL training are needed for lab-scale use.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793510"/>
                  </a:ext>
                </a:extLst>
              </a:tr>
              <a:tr h="975245">
                <a:tc>
                  <a:txBody>
                    <a:bodyPr/>
                    <a:lstStyle/>
                    <a:p>
                      <a:pPr algn="ctr"/>
                      <a:r>
                        <a:rPr lang="en-IN" sz="115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Adaptive Honeypot Engagement through Reinforcement Learning of Semi-Markov Decision Processes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Huang, Q. Zhu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2E7D3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Models attacker-honeypot interaction as a Semi-Markov Decision Process (SMDP); optimises both action selection and response timing.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Timing of adaptive responses is critical; simple actions (fake credentials, filesystem expansion) measurably increase engagement time.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Requires significant training data; not validated on Cowrie; no open-source implementation provided.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5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Practical SMDP-style adaptive triggers using anomaly score thresholds on commodity hardware are needed.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47625" marB="47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73975"/>
                  </a:ext>
                </a:extLst>
              </a:tr>
              <a:tr h="975245"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Isolation-Based Anomaly Detection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F. T. Liu, K. M. Ting, Z.-H. Zhou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50" b="1">
                          <a:solidFill>
                            <a:srgbClr val="2E7D3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2012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Unsupervised algorithm isolating anomalies via random recursive partitioning; anomalous points are isolated in fewer steps than normal points; no labels required.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Near-perfect AUC on anomaly benchmarks; scales linearly with data size; outperforms density/distance-based methods on high-dimensional tabular data.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lang="en-IN" sz="11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Designed for static batch datasets; does not natively handle concept drift; binary anomaly score may lose nuance for adaptive response triggering.</a:t>
                      </a:r>
                      <a:endParaRPr lang="en-IN" sz="11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lang="en-IN" sz="11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Need to apply Isolation Forest to streaming honeypot session features with adaptive threshold tuning to trigger real-time honeypot reconfiguration via an orchestration API.</a:t>
                      </a:r>
                      <a:endParaRPr lang="en-IN" sz="11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800" marR="50800" marT="31750" marB="317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2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62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60d35f11e3_30_8"/>
          <p:cNvSpPr txBox="1">
            <a:spLocks noGrp="1"/>
          </p:cNvSpPr>
          <p:nvPr>
            <p:ph type="title"/>
          </p:nvPr>
        </p:nvSpPr>
        <p:spPr>
          <a:xfrm>
            <a:off x="838200" y="137874"/>
            <a:ext cx="10515600" cy="86523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b="1" dirty="0">
                <a:solidFill>
                  <a:srgbClr val="3876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endParaRPr b="1" dirty="0">
              <a:solidFill>
                <a:srgbClr val="3876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Google Shape;108;g160d35f11e3_30_8"/>
          <p:cNvCxnSpPr>
            <a:cxnSpLocks/>
          </p:cNvCxnSpPr>
          <p:nvPr/>
        </p:nvCxnSpPr>
        <p:spPr>
          <a:xfrm>
            <a:off x="789405" y="993503"/>
            <a:ext cx="10419369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A0E9E8-5F12-2332-5CDA-84B3251E8485}"/>
              </a:ext>
            </a:extLst>
          </p:cNvPr>
          <p:cNvSpPr txBox="1"/>
          <p:nvPr/>
        </p:nvSpPr>
        <p:spPr>
          <a:xfrm>
            <a:off x="931110" y="1759974"/>
            <a:ext cx="1061319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spcBef>
                <a:spcPts val="1200"/>
              </a:spcBef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cybersecurity systems mainly rely on firewalls, antivirus software, and signature-based intrusion detection systems..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honeypot solutions are deployed as static decoy systems with predefined configurations.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focus primarily on logging attacker activity without adapting to attacker behavior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require significant manual monitoring and expert intervention for analysis.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are often expensive and difficult to scale, making them less accessible for small organizations.</a:t>
            </a:r>
            <a:b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95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998F-8368-AB12-F588-BE280BFF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26"/>
            <a:ext cx="10515600" cy="779318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A6C66AFE-0E4D-0F7A-44F0-538ADD547576}"/>
              </a:ext>
            </a:extLst>
          </p:cNvPr>
          <p:cNvCxnSpPr>
            <a:cxnSpLocks/>
          </p:cNvCxnSpPr>
          <p:nvPr/>
        </p:nvCxnSpPr>
        <p:spPr>
          <a:xfrm>
            <a:off x="838200" y="936636"/>
            <a:ext cx="105001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0FEFD43-7D1D-A414-B956-A8AA2621C08B}"/>
              </a:ext>
            </a:extLst>
          </p:cNvPr>
          <p:cNvSpPr txBox="1"/>
          <p:nvPr/>
        </p:nvSpPr>
        <p:spPr>
          <a:xfrm>
            <a:off x="707923" y="1543665"/>
            <a:ext cx="103140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spcBef>
                <a:spcPts val="1200"/>
              </a:spcBef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deploys multiple honeypots that simulate real services such as SSH, web servers, and databases to attract attackers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attacker interactions with the honeypots are continuously monitored and logged in real time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analysis module processes the collected logs to identify attack types and suspicious behavior patterns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detected attack behavior, the honeypots dynamically adapt their responses to maintain realism and engagement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dashboard provides real-time visualization of attacks, alerts, and threat intelligence for administrators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as a low-cost, scalable Deception-as-a-Service platform suitable for SMEs, educational institutions, and research environments.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049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998F-8368-AB12-F588-BE280BFF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047" y="167149"/>
            <a:ext cx="10515600" cy="779318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A6C66AFE-0E4D-0F7A-44F0-538ADD547576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318336-817E-BA63-4FC1-5E62F64F825E}"/>
              </a:ext>
            </a:extLst>
          </p:cNvPr>
          <p:cNvSpPr txBox="1"/>
          <p:nvPr/>
        </p:nvSpPr>
        <p:spPr>
          <a:xfrm>
            <a:off x="1406011" y="1663043"/>
            <a:ext cx="4050891" cy="381642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:</a:t>
            </a:r>
          </a:p>
          <a:p>
            <a:pPr marL="114300" lvl="8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  Windows 10 / Windows 11 </a:t>
            </a:r>
          </a:p>
          <a:p>
            <a:pPr marL="114300" lvl="8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  Ubuntu 22.04 LTS</a:t>
            </a:r>
          </a:p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/ Platforms :</a:t>
            </a:r>
          </a:p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  Docker and Docker Compose</a:t>
            </a:r>
          </a:p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  Cowrie and Dionaea Honeypots</a:t>
            </a:r>
          </a:p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  ELK Stack</a:t>
            </a:r>
          </a:p>
          <a:p>
            <a:pPr marL="457200" lvl="0" indent="-342900">
              <a:spcBef>
                <a:spcPts val="1200"/>
              </a:spcBef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C49D2-64E9-5681-2C28-541E1B3D0CD3}"/>
              </a:ext>
            </a:extLst>
          </p:cNvPr>
          <p:cNvSpPr txBox="1"/>
          <p:nvPr/>
        </p:nvSpPr>
        <p:spPr>
          <a:xfrm>
            <a:off x="5842847" y="1663043"/>
            <a:ext cx="438518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0"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Requirements:</a:t>
            </a:r>
          </a:p>
          <a:p>
            <a:pPr marL="400050" lvl="0" indent="-285750"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- Intel® Core™ i5 / i7 Processor or equivalent</a:t>
            </a:r>
          </a:p>
          <a:p>
            <a:pPr marL="400050" lvl="0" indent="-285750"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- Minimum 50 GB free disk space</a:t>
            </a:r>
          </a:p>
          <a:p>
            <a:pPr marL="400050" lvl="0" indent="-285750"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- Minimum 8 GB</a:t>
            </a:r>
          </a:p>
          <a:p>
            <a:pPr marL="400050" lvl="0" indent="-285750"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 -  Azure Virtual Machine with minimum 2 vCPUs and 4 GB RAM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6518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6;g160d35f11e3_30_8">
            <a:extLst>
              <a:ext uri="{FF2B5EF4-FFF2-40B4-BE49-F238E27FC236}">
                <a16:creationId xmlns:a16="http://schemas.microsoft.com/office/drawing/2014/main" id="{55F5063E-34E1-1D4B-0F4D-92A5178745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1110" y="201561"/>
            <a:ext cx="10515600" cy="73280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1100"/>
            </a:pPr>
            <a:r>
              <a:rPr lang="en-IN" b="1" dirty="0">
                <a:solidFill>
                  <a:srgbClr val="3876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b="1" dirty="0">
              <a:solidFill>
                <a:srgbClr val="38761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108;g160d35f11e3_30_8">
            <a:extLst>
              <a:ext uri="{FF2B5EF4-FFF2-40B4-BE49-F238E27FC236}">
                <a16:creationId xmlns:a16="http://schemas.microsoft.com/office/drawing/2014/main" id="{55626C3A-698D-3A91-8979-38C6C0ADF352}"/>
              </a:ext>
            </a:extLst>
          </p:cNvPr>
          <p:cNvCxnSpPr>
            <a:cxnSpLocks/>
          </p:cNvCxnSpPr>
          <p:nvPr/>
        </p:nvCxnSpPr>
        <p:spPr>
          <a:xfrm>
            <a:off x="789405" y="954328"/>
            <a:ext cx="1061319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4B8AE12-A318-31B7-0DE4-B8AA9EB75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671" y="1199539"/>
            <a:ext cx="5299587" cy="5456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8588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998F-8368-AB12-F588-BE280BFF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5"/>
            <a:ext cx="10515600" cy="1325563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1249-2DB7-F4BE-1BD0-4063587CB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7729"/>
            <a:ext cx="4988250" cy="4964937"/>
          </a:xfrm>
        </p:spPr>
        <p:txBody>
          <a:bodyPr>
            <a:normAutofit/>
          </a:bodyPr>
          <a:lstStyle/>
          <a:p>
            <a:pPr marL="5715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pPr marL="457200" lvl="6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Cowrie &amp; Dionaea Honeypots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Filebeat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Aggregator</a:t>
            </a:r>
          </a:p>
          <a:p>
            <a:pPr marL="5715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Statistical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Temporal Pattern Analysis</a:t>
            </a:r>
          </a:p>
          <a:p>
            <a:pPr marL="5715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Isolation Forest Algorithm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Anomaly Score Generation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A517A5-26E2-7D67-FE6E-89916AF011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65552" y="1327729"/>
            <a:ext cx="4079118" cy="4740089"/>
          </a:xfrm>
        </p:spPr>
        <p:txBody>
          <a:bodyPr>
            <a:normAutofit/>
          </a:bodyPr>
          <a:lstStyle/>
          <a:p>
            <a:pPr marL="571500" indent="-457200" algn="l">
              <a:lnSpc>
                <a:spcPct val="150000"/>
              </a:lnSpc>
              <a:buFont typeface="+mj-lt"/>
              <a:buAutoNum type="arabicPeriod" startAt="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Classification: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Random Forest Classifier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Category Prediction</a:t>
            </a:r>
          </a:p>
          <a:p>
            <a:pPr marL="571500" indent="-457200" algn="l">
              <a:lnSpc>
                <a:spcPct val="150000"/>
              </a:lnSpc>
              <a:buFont typeface="+mj-lt"/>
              <a:buAutoNum type="arabicPeriod" startAt="5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Engine: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Flask Orchestrator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Response Decision Logic</a:t>
            </a:r>
          </a:p>
          <a:p>
            <a:pPr marL="571500" indent="-457200" algn="l">
              <a:lnSpc>
                <a:spcPct val="150000"/>
              </a:lnSpc>
              <a:buFont typeface="+mj-lt"/>
              <a:buAutoNum type="arabicPeriod" startAt="6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System: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Action Execution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Performance Logging</a:t>
            </a:r>
          </a:p>
          <a:p>
            <a:pPr marL="114300" indent="0">
              <a:buNone/>
            </a:pPr>
            <a:endParaRPr lang="en-IN" sz="1800" dirty="0"/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A6C66AFE-0E4D-0F7A-44F0-538ADD547576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76101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998F-8368-AB12-F588-BE280BFF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A6C66AFE-0E4D-0F7A-44F0-538ADD547576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D7100FBC-D471-A970-D7AA-2ACC748FF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076" y="1319284"/>
            <a:ext cx="10744360" cy="516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Captures attacker interactions via Cowrie &amp; Dionaea honeypots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Ships logs in real-time using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Filebeat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aggregator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Generates comprehensive behavioral datasets for ML analysis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Extracts statistical, behavioral, and temporal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Normalizes and scales features for model input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Transforms raw logs into ML-ready feature vectors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Implements Isolation Forest for unsupervised anomaly isolation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Generates anomaly scores using path length calculations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Identifies malicious sessions with 95%+ precision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7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998F-8368-AB12-F588-BE280BFF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Explanation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A6C66AFE-0E4D-0F7A-44F0-538ADD547576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D7100FBC-D471-A970-D7AA-2ACC748FF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075" y="1319284"/>
            <a:ext cx="10625847" cy="516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Uses Random Forest for 5-category attack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Ensemble voting determines specific threat type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Maps anomalies to targeted deception responses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Adaptation Engine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Flask orchestrator coordinates ML outputs and responses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Decision logic selects optimal deception strategy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Enables real-time honeypot behavior modification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Executes adaptive responses and logs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Continuous learning improves future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Creates self-improving deception capabilities</a:t>
            </a:r>
          </a:p>
        </p:txBody>
      </p:sp>
    </p:spTree>
    <p:extLst>
      <p:ext uri="{BB962C8B-B14F-4D97-AF65-F5344CB8AC3E}">
        <p14:creationId xmlns:p14="http://schemas.microsoft.com/office/powerpoint/2010/main" val="290040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EAFB-EB54-9367-7050-B2DB1A44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351A-3954-ECC7-98AC-72B14438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9798859B-CD28-B65B-8BE9-0AF96894EE3E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D581520-4AAA-4084-9A90-54471CA04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61" y="1228724"/>
            <a:ext cx="8455741" cy="482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5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EBA6-451A-6513-36FD-DC08E832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79A5-8C4C-A539-944B-9C35C9B4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4CD9829D-FBE4-AF86-BF5A-EACF897A331C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39B9A85-A33C-601F-E351-6A13DCFFF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214" y="1469925"/>
            <a:ext cx="6381134" cy="4021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3861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D64E-C00B-A010-BC51-8687F719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4D69-A616-E830-EBA5-10E26D79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E4D15534-BF98-0531-B2CE-98C55BD7498E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C49BDDF-A35D-1B12-90EA-65DA190F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046" y="1612489"/>
            <a:ext cx="6440128" cy="349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E60ED-2C7B-548F-C91E-B04E7C4E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FEB79-4892-982A-CA34-33D8AFA7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Details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D32C4A6B-52E9-74ED-C8EA-442064A56312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E55853-A984-4E79-47D8-FA15767A05F0}"/>
              </a:ext>
            </a:extLst>
          </p:cNvPr>
          <p:cNvSpPr txBox="1"/>
          <p:nvPr/>
        </p:nvSpPr>
        <p:spPr>
          <a:xfrm>
            <a:off x="838200" y="1143112"/>
            <a:ext cx="10515600" cy="5581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Forest: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Unsupervised learning (no labeled data needed)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Detects anomalies efficiently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Fast real-time scoring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Works with small datasets</a:t>
            </a:r>
          </a:p>
          <a:p>
            <a:pPr lvl="5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How It Works: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Build ensemble of random decision trees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Each tree isolates data points randomly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Anomalies isolated faster (shorter path length)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Calculate average path length for new session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Shorter path → Higher anomaly score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- Score range: -1 (anomaly) to +1 (normal)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79478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58E0-6E16-864E-57A0-DAD01663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1DD1-D627-C9C9-4A3C-480975F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Details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1E0C2A00-8A08-726D-7AA8-5BB2B25C25E4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11ACE0-12A8-18F1-18DB-060DA04AB315}"/>
              </a:ext>
            </a:extLst>
          </p:cNvPr>
          <p:cNvSpPr txBox="1"/>
          <p:nvPr/>
        </p:nvSpPr>
        <p:spPr>
          <a:xfrm>
            <a:off x="838200" y="1143112"/>
            <a:ext cx="10515600" cy="558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Supervised learning with labeled attack classes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	- High accuracy for multi-class classification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Robust to overfitting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Provides feature importance rankings</a:t>
            </a: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Handles non-linear relationships well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5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How It Works: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5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 An ensemble of 100 decision trees is created using bootstrap sampling of the data.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 Each tree is trained on a random subset of features at every split.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 The same input is passed to all trees for prediction.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 Each tree independently votes for a class.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 The final prediction is determined by majority voting, and probabilities are based on the proportion                            	  of votes.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071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58E0-6E16-864E-57A0-DAD01663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1DD1-D627-C9C9-4A3C-480975F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1E0C2A00-8A08-726D-7AA8-5BB2B25C25E4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11ACE0-12A8-18F1-18DB-060DA04AB315}"/>
              </a:ext>
            </a:extLst>
          </p:cNvPr>
          <p:cNvSpPr txBox="1"/>
          <p:nvPr/>
        </p:nvSpPr>
        <p:spPr>
          <a:xfrm>
            <a:off x="838200" y="1143112"/>
            <a:ext cx="10515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import pandas as pd</a:t>
            </a:r>
          </a:p>
          <a:p>
            <a:r>
              <a:rPr lang="en-US" sz="1200" dirty="0"/>
              <a:t>from </a:t>
            </a:r>
            <a:r>
              <a:rPr lang="en-US" sz="1200" dirty="0" err="1"/>
              <a:t>sklearn.ensemble</a:t>
            </a:r>
            <a:r>
              <a:rPr lang="en-US" sz="1200" dirty="0"/>
              <a:t> import </a:t>
            </a:r>
            <a:r>
              <a:rPr lang="en-US" sz="1200" dirty="0" err="1"/>
              <a:t>RandomForestClassifier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sklearn.model_selection</a:t>
            </a:r>
            <a:r>
              <a:rPr lang="en-US" sz="1200" dirty="0"/>
              <a:t> import </a:t>
            </a:r>
            <a:r>
              <a:rPr lang="en-US" sz="1200" dirty="0" err="1"/>
              <a:t>train_test_split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sklearn.metrics</a:t>
            </a:r>
            <a:r>
              <a:rPr lang="en-US" sz="1200" dirty="0"/>
              <a:t> import </a:t>
            </a:r>
            <a:r>
              <a:rPr lang="en-US" sz="1200" dirty="0" err="1"/>
              <a:t>accuracy_score</a:t>
            </a:r>
            <a:r>
              <a:rPr lang="en-US" sz="1200" dirty="0"/>
              <a:t>, </a:t>
            </a:r>
            <a:r>
              <a:rPr lang="en-US" sz="1200" dirty="0" err="1"/>
              <a:t>classification_report</a:t>
            </a:r>
            <a:r>
              <a:rPr lang="en-US" sz="1200" dirty="0"/>
              <a:t>, </a:t>
            </a:r>
            <a:r>
              <a:rPr lang="en-US" sz="1200" dirty="0" err="1"/>
              <a:t>confusion_matrix</a:t>
            </a:r>
            <a:endParaRPr lang="en-US" sz="1200" dirty="0"/>
          </a:p>
          <a:p>
            <a:r>
              <a:rPr lang="en-US" sz="1200" dirty="0"/>
              <a:t>from </a:t>
            </a:r>
            <a:r>
              <a:rPr lang="en-US" sz="1200" dirty="0" err="1"/>
              <a:t>sklearn.preprocessing</a:t>
            </a:r>
            <a:r>
              <a:rPr lang="en-US" sz="1200" dirty="0"/>
              <a:t> import </a:t>
            </a:r>
            <a:r>
              <a:rPr lang="en-US" sz="1200" dirty="0" err="1"/>
              <a:t>StandardScaler</a:t>
            </a:r>
            <a:r>
              <a:rPr lang="en-US" sz="1200" dirty="0"/>
              <a:t>, </a:t>
            </a:r>
            <a:r>
              <a:rPr lang="en-US" sz="1200" dirty="0" err="1"/>
              <a:t>LabelEncoder</a:t>
            </a:r>
            <a:endParaRPr lang="en-US" sz="1200" dirty="0"/>
          </a:p>
          <a:p>
            <a:r>
              <a:rPr lang="en-US" sz="1200" dirty="0"/>
              <a:t>import </a:t>
            </a:r>
            <a:r>
              <a:rPr lang="en-US" sz="1200" dirty="0" err="1"/>
              <a:t>joblib</a:t>
            </a:r>
            <a:endParaRPr lang="en-US" sz="1200" dirty="0"/>
          </a:p>
          <a:p>
            <a:r>
              <a:rPr lang="en-US" sz="1200" dirty="0"/>
              <a:t>import </a:t>
            </a:r>
            <a:r>
              <a:rPr lang="en-US" sz="1200" dirty="0" err="1"/>
              <a:t>matplotlib.pyplot</a:t>
            </a:r>
            <a:r>
              <a:rPr lang="en-US" sz="1200" dirty="0"/>
              <a:t> as </a:t>
            </a:r>
            <a:r>
              <a:rPr lang="en-US" sz="1200" dirty="0" err="1"/>
              <a:t>plt</a:t>
            </a:r>
            <a:endParaRPr lang="en-US" sz="1200" dirty="0"/>
          </a:p>
          <a:p>
            <a:r>
              <a:rPr lang="en-US" sz="1200" dirty="0"/>
              <a:t>import seaborn as </a:t>
            </a:r>
            <a:r>
              <a:rPr lang="en-US" sz="1200" dirty="0" err="1"/>
              <a:t>sns</a:t>
            </a:r>
            <a:endParaRPr lang="en-US" sz="1200" dirty="0"/>
          </a:p>
          <a:p>
            <a:br>
              <a:rPr lang="en-US" sz="1200" dirty="0"/>
            </a:br>
            <a:r>
              <a:rPr lang="en-US" sz="1200" dirty="0" err="1"/>
              <a:t>df</a:t>
            </a:r>
            <a:r>
              <a:rPr lang="en-US" sz="1200" dirty="0"/>
              <a:t> = </a:t>
            </a:r>
            <a:r>
              <a:rPr lang="en-US" sz="1200" dirty="0" err="1"/>
              <a:t>pd.read_csv</a:t>
            </a:r>
            <a:r>
              <a:rPr lang="en-US" sz="1200" dirty="0"/>
              <a:t>('sessions_features.csv')</a:t>
            </a:r>
          </a:p>
          <a:p>
            <a:br>
              <a:rPr lang="en-US" sz="1200" dirty="0"/>
            </a:br>
            <a:r>
              <a:rPr lang="en-US" sz="1200" dirty="0"/>
              <a:t>def </a:t>
            </a:r>
            <a:r>
              <a:rPr lang="en-US" sz="1200" dirty="0" err="1"/>
              <a:t>classify_session</a:t>
            </a:r>
            <a:r>
              <a:rPr lang="en-US" sz="1200" dirty="0"/>
              <a:t>(row):</a:t>
            </a:r>
          </a:p>
          <a:p>
            <a:r>
              <a:rPr lang="en-US" sz="1200" dirty="0"/>
              <a:t>    if row['</a:t>
            </a:r>
            <a:r>
              <a:rPr lang="en-US" sz="1200" dirty="0" err="1"/>
              <a:t>has_download</a:t>
            </a:r>
            <a:r>
              <a:rPr lang="en-US" sz="1200" dirty="0"/>
              <a:t>'] == 1 and row['</a:t>
            </a:r>
            <a:r>
              <a:rPr lang="en-US" sz="1200" dirty="0" err="1"/>
              <a:t>has_priv_esc</a:t>
            </a:r>
            <a:r>
              <a:rPr lang="en-US" sz="1200" dirty="0"/>
              <a:t>'] == 1:</a:t>
            </a:r>
          </a:p>
          <a:p>
            <a:r>
              <a:rPr lang="en-US" sz="1200" dirty="0"/>
              <a:t>        return 'MALICIOUS'</a:t>
            </a:r>
          </a:p>
          <a:p>
            <a:r>
              <a:rPr lang="en-US" sz="1200" dirty="0"/>
              <a:t>    </a:t>
            </a:r>
            <a:r>
              <a:rPr lang="en-US" sz="1200" dirty="0" err="1"/>
              <a:t>elif</a:t>
            </a:r>
            <a:r>
              <a:rPr lang="en-US" sz="1200" dirty="0"/>
              <a:t> row['</a:t>
            </a:r>
            <a:r>
              <a:rPr lang="en-US" sz="1200" dirty="0" err="1"/>
              <a:t>has_recon</a:t>
            </a:r>
            <a:r>
              <a:rPr lang="en-US" sz="1200" dirty="0"/>
              <a:t>'] == 1 or row['</a:t>
            </a:r>
            <a:r>
              <a:rPr lang="en-US" sz="1200" dirty="0" err="1"/>
              <a:t>login_failures</a:t>
            </a:r>
            <a:r>
              <a:rPr lang="en-US" sz="1200" dirty="0"/>
              <a:t>'] &gt;= 2:</a:t>
            </a:r>
          </a:p>
          <a:p>
            <a:r>
              <a:rPr lang="en-US" sz="1200" dirty="0"/>
              <a:t>        return 'RECON'</a:t>
            </a:r>
          </a:p>
          <a:p>
            <a:r>
              <a:rPr lang="en-US" sz="1200" dirty="0"/>
              <a:t>    else:</a:t>
            </a:r>
          </a:p>
          <a:p>
            <a:r>
              <a:rPr lang="en-US" sz="1200" dirty="0"/>
              <a:t>        return 'BENIGN'</a:t>
            </a:r>
          </a:p>
          <a:p>
            <a:br>
              <a:rPr lang="en-US" sz="1200" dirty="0"/>
            </a:br>
            <a:r>
              <a:rPr lang="en-US" sz="1200" dirty="0" err="1"/>
              <a:t>df</a:t>
            </a:r>
            <a:r>
              <a:rPr lang="en-US" sz="1200" dirty="0"/>
              <a:t>['label'] = </a:t>
            </a:r>
            <a:r>
              <a:rPr lang="en-US" sz="1200" dirty="0" err="1"/>
              <a:t>df.apply</a:t>
            </a:r>
            <a:r>
              <a:rPr lang="en-US" sz="1200" dirty="0"/>
              <a:t>(</a:t>
            </a:r>
            <a:r>
              <a:rPr lang="en-US" sz="1200" dirty="0" err="1"/>
              <a:t>classify_session</a:t>
            </a:r>
            <a:r>
              <a:rPr lang="en-US" sz="1200" dirty="0"/>
              <a:t>, axis=1)</a:t>
            </a:r>
          </a:p>
          <a:p>
            <a:br>
              <a:rPr lang="en-US" sz="1200" dirty="0"/>
            </a:br>
            <a:r>
              <a:rPr lang="en-US" sz="1200" dirty="0" err="1"/>
              <a:t>feature_cols</a:t>
            </a:r>
            <a:r>
              <a:rPr lang="en-US" sz="1200" dirty="0"/>
              <a:t> = ['</a:t>
            </a:r>
            <a:r>
              <a:rPr lang="en-US" sz="1200" dirty="0" err="1"/>
              <a:t>duration_seconds</a:t>
            </a:r>
            <a:r>
              <a:rPr lang="en-US" sz="1200" dirty="0"/>
              <a:t>', '</a:t>
            </a:r>
            <a:r>
              <a:rPr lang="en-US" sz="1200" dirty="0" err="1"/>
              <a:t>num_commands</a:t>
            </a:r>
            <a:r>
              <a:rPr lang="en-US" sz="1200" dirty="0"/>
              <a:t>', '</a:t>
            </a:r>
            <a:r>
              <a:rPr lang="en-US" sz="1200" dirty="0" err="1"/>
              <a:t>unique_commands</a:t>
            </a:r>
            <a:r>
              <a:rPr lang="en-US" sz="1200" dirty="0"/>
              <a:t>',</a:t>
            </a:r>
          </a:p>
          <a:p>
            <a:r>
              <a:rPr lang="en-US" sz="1200" dirty="0"/>
              <a:t>                '</a:t>
            </a:r>
            <a:r>
              <a:rPr lang="en-US" sz="1200" dirty="0" err="1"/>
              <a:t>has_download</a:t>
            </a:r>
            <a:r>
              <a:rPr lang="en-US" sz="1200" dirty="0"/>
              <a:t>', '</a:t>
            </a:r>
            <a:r>
              <a:rPr lang="en-US" sz="1200" dirty="0" err="1"/>
              <a:t>has_priv_esc</a:t>
            </a:r>
            <a:r>
              <a:rPr lang="en-US" sz="1200" dirty="0"/>
              <a:t>', '</a:t>
            </a:r>
            <a:r>
              <a:rPr lang="en-US" sz="1200" dirty="0" err="1"/>
              <a:t>has_recon</a:t>
            </a:r>
            <a:r>
              <a:rPr lang="en-US" sz="1200" dirty="0"/>
              <a:t>',</a:t>
            </a:r>
          </a:p>
          <a:p>
            <a:r>
              <a:rPr lang="en-US" sz="1200" dirty="0"/>
              <a:t>                '</a:t>
            </a:r>
            <a:r>
              <a:rPr lang="en-US" sz="1200" dirty="0" err="1"/>
              <a:t>login_failures</a:t>
            </a:r>
            <a:r>
              <a:rPr lang="en-US" sz="1200" dirty="0"/>
              <a:t>', '</a:t>
            </a:r>
            <a:r>
              <a:rPr lang="en-US" sz="1200" dirty="0" err="1"/>
              <a:t>login_success</a:t>
            </a:r>
            <a:r>
              <a:rPr lang="en-US" sz="1200" dirty="0"/>
              <a:t>', '</a:t>
            </a:r>
            <a:r>
              <a:rPr lang="en-US" sz="1200" dirty="0" err="1"/>
              <a:t>file_uploads</a:t>
            </a:r>
            <a:r>
              <a:rPr lang="en-US" sz="1200" dirty="0"/>
              <a:t>']</a:t>
            </a:r>
          </a:p>
          <a:p>
            <a:br>
              <a:rPr lang="en-US" sz="1200" dirty="0"/>
            </a:br>
            <a:r>
              <a:rPr lang="en-US" sz="1200" dirty="0"/>
              <a:t>X = </a:t>
            </a:r>
            <a:r>
              <a:rPr lang="en-US" sz="1200" dirty="0" err="1"/>
              <a:t>df</a:t>
            </a:r>
            <a:r>
              <a:rPr lang="en-US" sz="1200" dirty="0"/>
              <a:t>[</a:t>
            </a:r>
            <a:r>
              <a:rPr lang="en-US" sz="1200" dirty="0" err="1"/>
              <a:t>feature_cols</a:t>
            </a:r>
            <a:r>
              <a:rPr lang="en-US" sz="1200" dirty="0"/>
              <a:t>].</a:t>
            </a:r>
            <a:r>
              <a:rPr lang="en-US" sz="1200" dirty="0" err="1"/>
              <a:t>fillna</a:t>
            </a:r>
            <a:r>
              <a:rPr lang="en-US" sz="1200" dirty="0"/>
              <a:t>(0)</a:t>
            </a:r>
          </a:p>
          <a:p>
            <a:r>
              <a:rPr lang="en-US" sz="1200" dirty="0"/>
              <a:t>y = </a:t>
            </a:r>
            <a:r>
              <a:rPr lang="en-US" sz="1200" dirty="0" err="1"/>
              <a:t>df</a:t>
            </a:r>
            <a:r>
              <a:rPr lang="en-US" sz="1200" dirty="0"/>
              <a:t>['label']</a:t>
            </a:r>
          </a:p>
          <a:p>
            <a:br>
              <a:rPr lang="en-US" sz="1200" dirty="0"/>
            </a:br>
            <a:r>
              <a:rPr lang="en-US" sz="1200" dirty="0" err="1"/>
              <a:t>label_encoder</a:t>
            </a:r>
            <a:r>
              <a:rPr lang="en-US" sz="1200" dirty="0"/>
              <a:t> = </a:t>
            </a:r>
            <a:r>
              <a:rPr lang="en-US" sz="1200" dirty="0" err="1"/>
              <a:t>LabelEncoder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y_encoded</a:t>
            </a:r>
            <a:r>
              <a:rPr lang="en-US" sz="1200" dirty="0"/>
              <a:t> = </a:t>
            </a:r>
            <a:r>
              <a:rPr lang="en-US" sz="1200" dirty="0" err="1"/>
              <a:t>label_encoder.fit_transform</a:t>
            </a:r>
            <a:r>
              <a:rPr lang="en-US" sz="1200" dirty="0"/>
              <a:t>(y)</a:t>
            </a:r>
          </a:p>
          <a:p>
            <a:br>
              <a:rPr lang="en-US" sz="1200" dirty="0"/>
            </a:b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7367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58E0-6E16-864E-57A0-DAD01663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1DD1-D627-C9C9-4A3C-480975F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1E0C2A00-8A08-726D-7AA8-5BB2B25C25E4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11ACE0-12A8-18F1-18DB-060DA04AB315}"/>
              </a:ext>
            </a:extLst>
          </p:cNvPr>
          <p:cNvSpPr txBox="1"/>
          <p:nvPr/>
        </p:nvSpPr>
        <p:spPr>
          <a:xfrm>
            <a:off x="838200" y="1143112"/>
            <a:ext cx="10515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scaler = </a:t>
            </a:r>
            <a:r>
              <a:rPr lang="en-US" sz="1200" dirty="0" err="1"/>
              <a:t>StandardScaler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X_scaled</a:t>
            </a:r>
            <a:r>
              <a:rPr lang="en-US" sz="1200" dirty="0"/>
              <a:t> = </a:t>
            </a:r>
            <a:r>
              <a:rPr lang="en-US" sz="1200" dirty="0" err="1"/>
              <a:t>scaler.fit_transform</a:t>
            </a:r>
            <a:r>
              <a:rPr lang="en-US" sz="1200" dirty="0"/>
              <a:t>(X)</a:t>
            </a:r>
          </a:p>
          <a:p>
            <a:br>
              <a:rPr lang="en-US" sz="1200" dirty="0"/>
            </a:br>
            <a:r>
              <a:rPr lang="en-US" sz="1200" dirty="0" err="1"/>
              <a:t>X_train</a:t>
            </a:r>
            <a:r>
              <a:rPr lang="en-US" sz="1200" dirty="0"/>
              <a:t>, </a:t>
            </a:r>
            <a:r>
              <a:rPr lang="en-US" sz="1200" dirty="0" err="1"/>
              <a:t>X_test</a:t>
            </a:r>
            <a:r>
              <a:rPr lang="en-US" sz="1200" dirty="0"/>
              <a:t>, </a:t>
            </a:r>
            <a:r>
              <a:rPr lang="en-US" sz="1200" dirty="0" err="1"/>
              <a:t>y_train</a:t>
            </a:r>
            <a:r>
              <a:rPr lang="en-US" sz="1200" dirty="0"/>
              <a:t>, </a:t>
            </a:r>
            <a:r>
              <a:rPr lang="en-US" sz="1200" dirty="0" err="1"/>
              <a:t>y_test</a:t>
            </a:r>
            <a:r>
              <a:rPr lang="en-US" sz="1200" dirty="0"/>
              <a:t> = </a:t>
            </a:r>
            <a:r>
              <a:rPr lang="en-US" sz="1200" dirty="0" err="1"/>
              <a:t>train_test_split</a:t>
            </a:r>
            <a:r>
              <a:rPr lang="en-US" sz="1200" dirty="0"/>
              <a:t>(</a:t>
            </a:r>
          </a:p>
          <a:p>
            <a:r>
              <a:rPr lang="en-US" sz="1200" dirty="0"/>
              <a:t>    </a:t>
            </a:r>
            <a:r>
              <a:rPr lang="en-US" sz="1200" dirty="0" err="1"/>
              <a:t>X_scaled</a:t>
            </a:r>
            <a:r>
              <a:rPr lang="en-US" sz="1200" dirty="0"/>
              <a:t>, </a:t>
            </a:r>
            <a:r>
              <a:rPr lang="en-US" sz="1200" dirty="0" err="1"/>
              <a:t>y_encoded</a:t>
            </a:r>
            <a:r>
              <a:rPr lang="en-US" sz="1200" dirty="0"/>
              <a:t>, </a:t>
            </a:r>
            <a:r>
              <a:rPr lang="en-US" sz="1200" dirty="0" err="1"/>
              <a:t>test_size</a:t>
            </a:r>
            <a:r>
              <a:rPr lang="en-US" sz="1200" dirty="0"/>
              <a:t>=0.3, </a:t>
            </a:r>
            <a:r>
              <a:rPr lang="en-US" sz="1200" dirty="0" err="1"/>
              <a:t>random_state</a:t>
            </a:r>
            <a:r>
              <a:rPr lang="en-US" sz="1200" dirty="0"/>
              <a:t>=42, stratify=</a:t>
            </a:r>
            <a:r>
              <a:rPr lang="en-US" sz="1200" dirty="0" err="1"/>
              <a:t>y_encoded</a:t>
            </a:r>
            <a:endParaRPr lang="en-US" sz="1200" dirty="0"/>
          </a:p>
          <a:p>
            <a:r>
              <a:rPr lang="en-US" sz="1200" dirty="0"/>
              <a:t>)</a:t>
            </a:r>
          </a:p>
          <a:p>
            <a:br>
              <a:rPr lang="en-US" sz="1200" dirty="0"/>
            </a:br>
            <a:r>
              <a:rPr lang="en-US" sz="1200" dirty="0" err="1"/>
              <a:t>rf_model</a:t>
            </a:r>
            <a:r>
              <a:rPr lang="en-US" sz="1200" dirty="0"/>
              <a:t> = </a:t>
            </a:r>
            <a:r>
              <a:rPr lang="en-US" sz="1200" dirty="0" err="1"/>
              <a:t>RandomForestClassifier</a:t>
            </a:r>
            <a:r>
              <a:rPr lang="en-US" sz="1200" dirty="0"/>
              <a:t>(</a:t>
            </a:r>
            <a:r>
              <a:rPr lang="en-US" sz="1200" dirty="0" err="1"/>
              <a:t>n_estimators</a:t>
            </a:r>
            <a:r>
              <a:rPr lang="en-US" sz="1200" dirty="0"/>
              <a:t>=100, </a:t>
            </a:r>
            <a:r>
              <a:rPr lang="en-US" sz="1200" dirty="0" err="1"/>
              <a:t>max_depth</a:t>
            </a:r>
            <a:r>
              <a:rPr lang="en-US" sz="1200" dirty="0"/>
              <a:t>=10, </a:t>
            </a:r>
            <a:r>
              <a:rPr lang="en-US" sz="1200" dirty="0" err="1"/>
              <a:t>random_state</a:t>
            </a:r>
            <a:r>
              <a:rPr lang="en-US" sz="1200" dirty="0"/>
              <a:t>=42, </a:t>
            </a:r>
            <a:r>
              <a:rPr lang="en-US" sz="1200" dirty="0" err="1"/>
              <a:t>n_jobs</a:t>
            </a:r>
            <a:r>
              <a:rPr lang="en-US" sz="1200" dirty="0"/>
              <a:t>=-1)</a:t>
            </a:r>
          </a:p>
          <a:p>
            <a:r>
              <a:rPr lang="en-US" sz="1200" dirty="0" err="1"/>
              <a:t>rf_model.fit</a:t>
            </a:r>
            <a:r>
              <a:rPr lang="en-US" sz="1200" dirty="0"/>
              <a:t>(</a:t>
            </a:r>
            <a:r>
              <a:rPr lang="en-US" sz="1200" dirty="0" err="1"/>
              <a:t>X_train</a:t>
            </a:r>
            <a:r>
              <a:rPr lang="en-US" sz="1200" dirty="0"/>
              <a:t>, </a:t>
            </a:r>
            <a:r>
              <a:rPr lang="en-US" sz="1200" dirty="0" err="1"/>
              <a:t>y_train</a:t>
            </a:r>
            <a:r>
              <a:rPr lang="en-US" sz="1200" dirty="0"/>
              <a:t>)</a:t>
            </a:r>
          </a:p>
          <a:p>
            <a:br>
              <a:rPr lang="en-US" sz="1200" dirty="0"/>
            </a:br>
            <a:r>
              <a:rPr lang="en-US" sz="1200" dirty="0" err="1"/>
              <a:t>y_pred</a:t>
            </a:r>
            <a:r>
              <a:rPr lang="en-US" sz="1200" dirty="0"/>
              <a:t> = </a:t>
            </a:r>
            <a:r>
              <a:rPr lang="en-US" sz="1200" dirty="0" err="1"/>
              <a:t>rf_model.predict</a:t>
            </a:r>
            <a:r>
              <a:rPr lang="en-US" sz="1200" dirty="0"/>
              <a:t>(</a:t>
            </a:r>
            <a:r>
              <a:rPr lang="en-US" sz="1200" dirty="0" err="1"/>
              <a:t>X_test</a:t>
            </a:r>
            <a:r>
              <a:rPr lang="en-US" sz="1200" dirty="0"/>
              <a:t>)</a:t>
            </a:r>
          </a:p>
          <a:p>
            <a:r>
              <a:rPr lang="en-US" sz="1200" dirty="0"/>
              <a:t>accuracy = </a:t>
            </a:r>
            <a:r>
              <a:rPr lang="en-US" sz="1200" dirty="0" err="1"/>
              <a:t>accuracy_score</a:t>
            </a:r>
            <a:r>
              <a:rPr lang="en-US" sz="1200" dirty="0"/>
              <a:t>(</a:t>
            </a:r>
            <a:r>
              <a:rPr lang="en-US" sz="1200" dirty="0" err="1"/>
              <a:t>y_test</a:t>
            </a:r>
            <a:r>
              <a:rPr lang="en-US" sz="1200" dirty="0"/>
              <a:t>, </a:t>
            </a:r>
            <a:r>
              <a:rPr lang="en-US" sz="1200" dirty="0" err="1"/>
              <a:t>y_pred</a:t>
            </a:r>
            <a:r>
              <a:rPr lang="en-US" sz="1200" dirty="0"/>
              <a:t>)</a:t>
            </a:r>
          </a:p>
          <a:p>
            <a:br>
              <a:rPr lang="en-US" sz="1200" dirty="0"/>
            </a:br>
            <a:r>
              <a:rPr lang="en-US" sz="1200" dirty="0" err="1"/>
              <a:t>df</a:t>
            </a:r>
            <a:r>
              <a:rPr lang="en-US" sz="1200" dirty="0"/>
              <a:t>['</a:t>
            </a:r>
            <a:r>
              <a:rPr lang="en-US" sz="1200" dirty="0" err="1"/>
              <a:t>predicted_label</a:t>
            </a:r>
            <a:r>
              <a:rPr lang="en-US" sz="1200" dirty="0"/>
              <a:t>'] = </a:t>
            </a:r>
            <a:r>
              <a:rPr lang="en-US" sz="1200" dirty="0" err="1"/>
              <a:t>label_encoder.inverse_transform</a:t>
            </a:r>
            <a:r>
              <a:rPr lang="en-US" sz="1200" dirty="0"/>
              <a:t>(</a:t>
            </a:r>
            <a:r>
              <a:rPr lang="en-US" sz="1200" dirty="0" err="1"/>
              <a:t>rf_model.predict</a:t>
            </a:r>
            <a:r>
              <a:rPr lang="en-US" sz="1200" dirty="0"/>
              <a:t>(</a:t>
            </a:r>
            <a:r>
              <a:rPr lang="en-US" sz="1200" dirty="0" err="1"/>
              <a:t>X_scaled</a:t>
            </a:r>
            <a:r>
              <a:rPr lang="en-US" sz="1200" dirty="0"/>
              <a:t>))</a:t>
            </a:r>
          </a:p>
          <a:p>
            <a:r>
              <a:rPr lang="en-US" sz="1200" dirty="0" err="1"/>
              <a:t>df</a:t>
            </a:r>
            <a:r>
              <a:rPr lang="en-US" sz="1200" dirty="0"/>
              <a:t>['</a:t>
            </a:r>
            <a:r>
              <a:rPr lang="en-US" sz="1200" dirty="0" err="1"/>
              <a:t>prediction_confidence</a:t>
            </a:r>
            <a:r>
              <a:rPr lang="en-US" sz="1200" dirty="0"/>
              <a:t>'] = </a:t>
            </a:r>
            <a:r>
              <a:rPr lang="en-US" sz="1200" dirty="0" err="1"/>
              <a:t>rf_model.predict_proba</a:t>
            </a:r>
            <a:r>
              <a:rPr lang="en-US" sz="1200" dirty="0"/>
              <a:t>(</a:t>
            </a:r>
            <a:r>
              <a:rPr lang="en-US" sz="1200" dirty="0" err="1"/>
              <a:t>X_scaled</a:t>
            </a:r>
            <a:r>
              <a:rPr lang="en-US" sz="1200" dirty="0"/>
              <a:t>).max(axis=1)</a:t>
            </a:r>
          </a:p>
          <a:p>
            <a:br>
              <a:rPr lang="en-US" sz="1200" dirty="0"/>
            </a:br>
            <a:r>
              <a:rPr lang="en-US" sz="1200" dirty="0" err="1"/>
              <a:t>joblib.dump</a:t>
            </a:r>
            <a:r>
              <a:rPr lang="en-US" sz="1200" dirty="0"/>
              <a:t>(</a:t>
            </a:r>
            <a:r>
              <a:rPr lang="en-US" sz="1200" dirty="0" err="1"/>
              <a:t>rf_model</a:t>
            </a:r>
            <a:r>
              <a:rPr lang="en-US" sz="1200" dirty="0"/>
              <a:t>, '</a:t>
            </a:r>
            <a:r>
              <a:rPr lang="en-US" sz="1200" dirty="0" err="1"/>
              <a:t>random_forest_model.pkl</a:t>
            </a:r>
            <a:r>
              <a:rPr lang="en-US" sz="1200" dirty="0"/>
              <a:t>')</a:t>
            </a:r>
          </a:p>
          <a:p>
            <a:r>
              <a:rPr lang="en-US" sz="1200" dirty="0" err="1"/>
              <a:t>joblib.dump</a:t>
            </a:r>
            <a:r>
              <a:rPr lang="en-US" sz="1200" dirty="0"/>
              <a:t>(scaler, '</a:t>
            </a:r>
            <a:r>
              <a:rPr lang="en-US" sz="1200" dirty="0" err="1"/>
              <a:t>rf_scaler.pkl</a:t>
            </a:r>
            <a:r>
              <a:rPr lang="en-US" sz="1200" dirty="0"/>
              <a:t>')</a:t>
            </a:r>
          </a:p>
          <a:p>
            <a:r>
              <a:rPr lang="en-US" sz="1200" dirty="0" err="1"/>
              <a:t>joblib.dump</a:t>
            </a:r>
            <a:r>
              <a:rPr lang="en-US" sz="1200" dirty="0"/>
              <a:t>(</a:t>
            </a:r>
            <a:r>
              <a:rPr lang="en-US" sz="1200" dirty="0" err="1"/>
              <a:t>label_encoder</a:t>
            </a:r>
            <a:r>
              <a:rPr lang="en-US" sz="1200" dirty="0"/>
              <a:t>, '</a:t>
            </a:r>
            <a:r>
              <a:rPr lang="en-US" sz="1200" dirty="0" err="1"/>
              <a:t>rf_label_encoder.pkl</a:t>
            </a:r>
            <a:r>
              <a:rPr lang="en-US" sz="1200" dirty="0"/>
              <a:t>')</a:t>
            </a:r>
          </a:p>
          <a:p>
            <a:r>
              <a:rPr lang="en-US" sz="1200" dirty="0" err="1"/>
              <a:t>df.to_csv</a:t>
            </a:r>
            <a:r>
              <a:rPr lang="en-US" sz="1200" dirty="0"/>
              <a:t>('rf_predictions.csv', index=False)</a:t>
            </a:r>
          </a:p>
          <a:p>
            <a:br>
              <a:rPr lang="en-US" sz="1200" dirty="0"/>
            </a:br>
            <a:r>
              <a:rPr lang="en-US" sz="1200" dirty="0" err="1"/>
              <a:t>feature_importance</a:t>
            </a:r>
            <a:r>
              <a:rPr lang="en-US" sz="1200" dirty="0"/>
              <a:t> = </a:t>
            </a:r>
            <a:r>
              <a:rPr lang="en-US" sz="1200" dirty="0" err="1"/>
              <a:t>pd.DataFrame</a:t>
            </a:r>
            <a:r>
              <a:rPr lang="en-US" sz="1200" dirty="0"/>
              <a:t>({</a:t>
            </a:r>
          </a:p>
          <a:p>
            <a:r>
              <a:rPr lang="en-US" sz="1200" dirty="0"/>
              <a:t>    'feature': </a:t>
            </a:r>
            <a:r>
              <a:rPr lang="en-US" sz="1200" dirty="0" err="1"/>
              <a:t>feature_cols</a:t>
            </a:r>
            <a:r>
              <a:rPr lang="en-US" sz="1200" dirty="0"/>
              <a:t>,</a:t>
            </a:r>
          </a:p>
          <a:p>
            <a:r>
              <a:rPr lang="en-US" sz="1200" dirty="0"/>
              <a:t>    'importance': </a:t>
            </a:r>
            <a:r>
              <a:rPr lang="en-US" sz="1200" dirty="0" err="1"/>
              <a:t>rf_model.feature_importances</a:t>
            </a:r>
            <a:r>
              <a:rPr lang="en-US" sz="1200" dirty="0"/>
              <a:t>_</a:t>
            </a:r>
          </a:p>
          <a:p>
            <a:r>
              <a:rPr lang="en-US" sz="1200" dirty="0"/>
              <a:t>}).</a:t>
            </a:r>
            <a:r>
              <a:rPr lang="en-US" sz="1200" dirty="0" err="1"/>
              <a:t>sort_values</a:t>
            </a:r>
            <a:r>
              <a:rPr lang="en-US" sz="1200" dirty="0"/>
              <a:t>('importance', ascending=False)</a:t>
            </a:r>
          </a:p>
          <a:p>
            <a:br>
              <a:rPr lang="en-US" sz="1200" dirty="0"/>
            </a:br>
            <a:r>
              <a:rPr lang="en-US" sz="1200" dirty="0"/>
              <a:t>fig, axes = </a:t>
            </a:r>
            <a:r>
              <a:rPr lang="en-US" sz="1200" dirty="0" err="1"/>
              <a:t>plt.subplots</a:t>
            </a:r>
            <a:r>
              <a:rPr lang="en-US" sz="1200" dirty="0"/>
              <a:t>(2, 2, </a:t>
            </a:r>
            <a:r>
              <a:rPr lang="en-US" sz="1200" dirty="0" err="1"/>
              <a:t>figsize</a:t>
            </a:r>
            <a:r>
              <a:rPr lang="en-US" sz="1200" dirty="0"/>
              <a:t>=(14, 10))</a:t>
            </a:r>
          </a:p>
          <a:p>
            <a:br>
              <a:rPr lang="en-US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0612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58E0-6E16-864E-57A0-DAD01663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1DD1-D627-C9C9-4A3C-480975F1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1E0C2A00-8A08-726D-7AA8-5BB2B25C25E4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11ACE0-12A8-18F1-18DB-060DA04AB315}"/>
              </a:ext>
            </a:extLst>
          </p:cNvPr>
          <p:cNvSpPr txBox="1"/>
          <p:nvPr/>
        </p:nvSpPr>
        <p:spPr>
          <a:xfrm>
            <a:off x="838200" y="1143112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axes[0, 0].</a:t>
            </a:r>
            <a:r>
              <a:rPr lang="en-US" sz="1200" dirty="0" err="1"/>
              <a:t>barh</a:t>
            </a:r>
            <a:r>
              <a:rPr lang="en-US" sz="1200" dirty="0"/>
              <a:t>(</a:t>
            </a:r>
            <a:r>
              <a:rPr lang="en-US" sz="1200" dirty="0" err="1"/>
              <a:t>feature_importance</a:t>
            </a:r>
            <a:r>
              <a:rPr lang="en-US" sz="1200" dirty="0"/>
              <a:t>['feature'], </a:t>
            </a:r>
            <a:r>
              <a:rPr lang="en-US" sz="1200" dirty="0" err="1"/>
              <a:t>feature_importance</a:t>
            </a:r>
            <a:r>
              <a:rPr lang="en-US" sz="1200" dirty="0"/>
              <a:t>['importance'])</a:t>
            </a:r>
          </a:p>
          <a:p>
            <a:r>
              <a:rPr lang="en-US" sz="1200" dirty="0"/>
              <a:t>axes[0, 0].</a:t>
            </a:r>
            <a:r>
              <a:rPr lang="en-US" sz="1200" dirty="0" err="1"/>
              <a:t>set_xlabel</a:t>
            </a:r>
            <a:r>
              <a:rPr lang="en-US" sz="1200" dirty="0"/>
              <a:t>('Importance')</a:t>
            </a:r>
          </a:p>
          <a:p>
            <a:r>
              <a:rPr lang="en-US" sz="1200" dirty="0"/>
              <a:t>axes[0, 0].</a:t>
            </a:r>
            <a:r>
              <a:rPr lang="en-US" sz="1200" dirty="0" err="1"/>
              <a:t>set_title</a:t>
            </a:r>
            <a:r>
              <a:rPr lang="en-US" sz="1200" dirty="0"/>
              <a:t>('Feature Importance')</a:t>
            </a:r>
          </a:p>
          <a:p>
            <a:r>
              <a:rPr lang="en-US" sz="1200" dirty="0"/>
              <a:t>axes[0, 0].</a:t>
            </a:r>
            <a:r>
              <a:rPr lang="en-US" sz="1200" dirty="0" err="1"/>
              <a:t>invert_yaxis</a:t>
            </a:r>
            <a:r>
              <a:rPr lang="en-US" sz="1200" dirty="0"/>
              <a:t>()</a:t>
            </a:r>
          </a:p>
          <a:p>
            <a:br>
              <a:rPr lang="en-US" sz="1200" dirty="0"/>
            </a:br>
            <a:r>
              <a:rPr lang="en-US" sz="1200" dirty="0"/>
              <a:t>cm = </a:t>
            </a:r>
            <a:r>
              <a:rPr lang="en-US" sz="1200" dirty="0" err="1"/>
              <a:t>confusion_matrix</a:t>
            </a:r>
            <a:r>
              <a:rPr lang="en-US" sz="1200" dirty="0"/>
              <a:t>(</a:t>
            </a:r>
            <a:r>
              <a:rPr lang="en-US" sz="1200" dirty="0" err="1"/>
              <a:t>y_test</a:t>
            </a:r>
            <a:r>
              <a:rPr lang="en-US" sz="1200" dirty="0"/>
              <a:t>, </a:t>
            </a:r>
            <a:r>
              <a:rPr lang="en-US" sz="1200" dirty="0" err="1"/>
              <a:t>y_pred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sns.heatmap</a:t>
            </a:r>
            <a:r>
              <a:rPr lang="en-US" sz="1200" dirty="0"/>
              <a:t>(cm, </a:t>
            </a:r>
            <a:r>
              <a:rPr lang="en-US" sz="1200" dirty="0" err="1"/>
              <a:t>annot</a:t>
            </a:r>
            <a:r>
              <a:rPr lang="en-US" sz="1200" dirty="0"/>
              <a:t>=True, </a:t>
            </a:r>
            <a:r>
              <a:rPr lang="en-US" sz="1200" dirty="0" err="1"/>
              <a:t>fmt</a:t>
            </a:r>
            <a:r>
              <a:rPr lang="en-US" sz="1200" dirty="0"/>
              <a:t>='d', </a:t>
            </a:r>
            <a:r>
              <a:rPr lang="en-US" sz="1200" dirty="0" err="1"/>
              <a:t>cmap</a:t>
            </a:r>
            <a:r>
              <a:rPr lang="en-US" sz="1200" dirty="0"/>
              <a:t>='Blues', </a:t>
            </a:r>
          </a:p>
          <a:p>
            <a:r>
              <a:rPr lang="en-US" sz="1200" dirty="0"/>
              <a:t>            </a:t>
            </a:r>
            <a:r>
              <a:rPr lang="en-US" sz="1200" dirty="0" err="1"/>
              <a:t>xticklabels</a:t>
            </a:r>
            <a:r>
              <a:rPr lang="en-US" sz="1200" dirty="0"/>
              <a:t>=</a:t>
            </a:r>
            <a:r>
              <a:rPr lang="en-US" sz="1200" dirty="0" err="1"/>
              <a:t>label_encoder.classes</a:t>
            </a:r>
            <a:r>
              <a:rPr lang="en-US" sz="1200" dirty="0"/>
              <a:t>_, </a:t>
            </a:r>
            <a:r>
              <a:rPr lang="en-US" sz="1200" dirty="0" err="1"/>
              <a:t>yticklabels</a:t>
            </a:r>
            <a:r>
              <a:rPr lang="en-US" sz="1200" dirty="0"/>
              <a:t>=</a:t>
            </a:r>
            <a:r>
              <a:rPr lang="en-US" sz="1200" dirty="0" err="1"/>
              <a:t>label_encoder.classes</a:t>
            </a:r>
            <a:r>
              <a:rPr lang="en-US" sz="1200" dirty="0"/>
              <a:t>_, ax=axes[0, 1])</a:t>
            </a:r>
          </a:p>
          <a:p>
            <a:r>
              <a:rPr lang="en-US" sz="1200" dirty="0"/>
              <a:t>axes[0, 1].</a:t>
            </a:r>
            <a:r>
              <a:rPr lang="en-US" sz="1200" dirty="0" err="1"/>
              <a:t>set_title</a:t>
            </a:r>
            <a:r>
              <a:rPr lang="en-US" sz="1200" dirty="0"/>
              <a:t>('Confusion Matrix')</a:t>
            </a:r>
          </a:p>
          <a:p>
            <a:br>
              <a:rPr lang="en-US" sz="1200" dirty="0"/>
            </a:br>
            <a:r>
              <a:rPr lang="en-US" sz="1200" dirty="0" err="1"/>
              <a:t>class_counts</a:t>
            </a:r>
            <a:r>
              <a:rPr lang="en-US" sz="1200" dirty="0"/>
              <a:t> = </a:t>
            </a:r>
            <a:r>
              <a:rPr lang="en-US" sz="1200" dirty="0" err="1"/>
              <a:t>df</a:t>
            </a:r>
            <a:r>
              <a:rPr lang="en-US" sz="1200" dirty="0"/>
              <a:t>['label'].</a:t>
            </a:r>
            <a:r>
              <a:rPr lang="en-US" sz="1200" dirty="0" err="1"/>
              <a:t>value_counts</a:t>
            </a:r>
            <a:r>
              <a:rPr lang="en-US" sz="1200" dirty="0"/>
              <a:t>()</a:t>
            </a:r>
          </a:p>
          <a:p>
            <a:r>
              <a:rPr lang="en-US" sz="1200" dirty="0"/>
              <a:t>axes[1, 0].bar(</a:t>
            </a:r>
            <a:r>
              <a:rPr lang="en-US" sz="1200" dirty="0" err="1"/>
              <a:t>class_counts.index</a:t>
            </a:r>
            <a:r>
              <a:rPr lang="en-US" sz="1200" dirty="0"/>
              <a:t>, </a:t>
            </a:r>
            <a:r>
              <a:rPr lang="en-US" sz="1200" dirty="0" err="1"/>
              <a:t>class_counts.values</a:t>
            </a:r>
            <a:r>
              <a:rPr lang="en-US" sz="1200" dirty="0"/>
              <a:t>, color=['green', 'orange', 'red'])</a:t>
            </a:r>
          </a:p>
          <a:p>
            <a:r>
              <a:rPr lang="en-US" sz="1200" dirty="0"/>
              <a:t>axes[1, 0].</a:t>
            </a:r>
            <a:r>
              <a:rPr lang="en-US" sz="1200" dirty="0" err="1"/>
              <a:t>set_title</a:t>
            </a:r>
            <a:r>
              <a:rPr lang="en-US" sz="1200" dirty="0"/>
              <a:t>('Class Distribution')</a:t>
            </a:r>
          </a:p>
          <a:p>
            <a:r>
              <a:rPr lang="en-US" sz="1200" dirty="0"/>
              <a:t>axes[1, 0].</a:t>
            </a:r>
            <a:r>
              <a:rPr lang="en-US" sz="1200" dirty="0" err="1"/>
              <a:t>tick_params</a:t>
            </a:r>
            <a:r>
              <a:rPr lang="en-US" sz="1200" dirty="0"/>
              <a:t>(axis='x', rotation=45)</a:t>
            </a:r>
          </a:p>
          <a:p>
            <a:br>
              <a:rPr lang="en-US" sz="1200" dirty="0"/>
            </a:br>
            <a:r>
              <a:rPr lang="en-US" sz="1200" dirty="0"/>
              <a:t>axes[1, 1].hist(</a:t>
            </a:r>
            <a:r>
              <a:rPr lang="en-US" sz="1200" dirty="0" err="1"/>
              <a:t>df</a:t>
            </a:r>
            <a:r>
              <a:rPr lang="en-US" sz="1200" dirty="0"/>
              <a:t>['</a:t>
            </a:r>
            <a:r>
              <a:rPr lang="en-US" sz="1200" dirty="0" err="1"/>
              <a:t>prediction_confidence</a:t>
            </a:r>
            <a:r>
              <a:rPr lang="en-US" sz="1200" dirty="0"/>
              <a:t>'], bins=10, </a:t>
            </a:r>
            <a:r>
              <a:rPr lang="en-US" sz="1200" dirty="0" err="1"/>
              <a:t>edgecolor</a:t>
            </a:r>
            <a:r>
              <a:rPr lang="en-US" sz="1200" dirty="0"/>
              <a:t>='black')</a:t>
            </a:r>
          </a:p>
          <a:p>
            <a:r>
              <a:rPr lang="en-US" sz="1200" dirty="0"/>
              <a:t>axes[1, 1].</a:t>
            </a:r>
            <a:r>
              <a:rPr lang="en-US" sz="1200" dirty="0" err="1"/>
              <a:t>set_title</a:t>
            </a:r>
            <a:r>
              <a:rPr lang="en-US" sz="1200" dirty="0"/>
              <a:t>('Prediction Confidence')</a:t>
            </a:r>
          </a:p>
          <a:p>
            <a:r>
              <a:rPr lang="en-US" sz="1200" dirty="0"/>
              <a:t>axes[1, 1].</a:t>
            </a:r>
            <a:r>
              <a:rPr lang="en-US" sz="1200" dirty="0" err="1"/>
              <a:t>axvline</a:t>
            </a:r>
            <a:r>
              <a:rPr lang="en-US" sz="1200" dirty="0"/>
              <a:t>(x=0.8, color='r', </a:t>
            </a:r>
            <a:r>
              <a:rPr lang="en-US" sz="1200" dirty="0" err="1"/>
              <a:t>linestyle</a:t>
            </a:r>
            <a:r>
              <a:rPr lang="en-US" sz="1200" dirty="0"/>
              <a:t>='--', label='80% threshold')</a:t>
            </a:r>
          </a:p>
          <a:p>
            <a:r>
              <a:rPr lang="en-US" sz="1200" dirty="0"/>
              <a:t>axes[1, 1].legend()</a:t>
            </a:r>
          </a:p>
          <a:p>
            <a:br>
              <a:rPr lang="en-US" sz="1200" dirty="0"/>
            </a:br>
            <a:r>
              <a:rPr lang="en-US" sz="1200" dirty="0" err="1"/>
              <a:t>plt.tight_layout</a:t>
            </a:r>
            <a:r>
              <a:rPr lang="en-US" sz="1200" dirty="0"/>
              <a:t>()</a:t>
            </a:r>
          </a:p>
          <a:p>
            <a:r>
              <a:rPr lang="en-US" sz="1200" dirty="0" err="1"/>
              <a:t>plt.savefig</a:t>
            </a:r>
            <a:r>
              <a:rPr lang="en-US" sz="1200" dirty="0"/>
              <a:t>('rf_analysis.png', dpi=150, </a:t>
            </a:r>
            <a:r>
              <a:rPr lang="en-US" sz="1200" dirty="0" err="1"/>
              <a:t>bbox_inches</a:t>
            </a:r>
            <a:r>
              <a:rPr lang="en-US" sz="1200" dirty="0"/>
              <a:t>='tight')</a:t>
            </a:r>
          </a:p>
          <a:p>
            <a:br>
              <a:rPr lang="en-US" sz="1200" dirty="0"/>
            </a:br>
            <a:r>
              <a:rPr lang="en-US" sz="1200" dirty="0"/>
              <a:t>print(f"✅ Random Forest trained: {accuracy*100:.1f}% accuracy")</a:t>
            </a:r>
          </a:p>
          <a:p>
            <a:r>
              <a:rPr lang="en-US" sz="1200" dirty="0"/>
              <a:t>print(f"✅ Class distribution: {</a:t>
            </a:r>
            <a:r>
              <a:rPr lang="en-US" sz="1200" dirty="0" err="1"/>
              <a:t>dict</a:t>
            </a:r>
            <a:r>
              <a:rPr lang="en-US" sz="1200" dirty="0"/>
              <a:t>(</a:t>
            </a:r>
            <a:r>
              <a:rPr lang="en-US" sz="1200" dirty="0" err="1"/>
              <a:t>df</a:t>
            </a:r>
            <a:r>
              <a:rPr lang="en-US" sz="1200" dirty="0"/>
              <a:t>['label'].</a:t>
            </a:r>
            <a:r>
              <a:rPr lang="en-US" sz="1200" dirty="0" err="1"/>
              <a:t>value_counts</a:t>
            </a:r>
            <a:r>
              <a:rPr lang="en-US" sz="1200" dirty="0"/>
              <a:t>())}")</a:t>
            </a:r>
          </a:p>
          <a:p>
            <a:r>
              <a:rPr lang="en-US" sz="1200" dirty="0"/>
              <a:t>print(f"✅ Saved: </a:t>
            </a:r>
            <a:r>
              <a:rPr lang="en-US" sz="1200" dirty="0" err="1"/>
              <a:t>random_forest_model.pkl</a:t>
            </a:r>
            <a:r>
              <a:rPr lang="en-US" sz="1200" dirty="0"/>
              <a:t>, </a:t>
            </a:r>
            <a:r>
              <a:rPr lang="en-US" sz="1200" dirty="0" err="1"/>
              <a:t>rf_scaler.pkl</a:t>
            </a:r>
            <a:r>
              <a:rPr lang="en-US" sz="1200" dirty="0"/>
              <a:t>, </a:t>
            </a:r>
            <a:r>
              <a:rPr lang="en-US" sz="1200" dirty="0" err="1"/>
              <a:t>rf_label_encoder.pkl</a:t>
            </a:r>
            <a:r>
              <a:rPr lang="en-US" sz="1200" dirty="0"/>
              <a:t>, rf_predictions.csv, rf_analysis.png")</a:t>
            </a:r>
          </a:p>
        </p:txBody>
      </p:sp>
    </p:spTree>
    <p:extLst>
      <p:ext uri="{BB962C8B-B14F-4D97-AF65-F5344CB8AC3E}">
        <p14:creationId xmlns:p14="http://schemas.microsoft.com/office/powerpoint/2010/main" val="3647329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9B04-12EA-8F0C-220D-77A9B907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AA7D-4700-F75E-FCFB-2506285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94A21C22-CD5E-4EA1-DDBE-BDF07D35D5E8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7E5ED686-009C-9173-0AF1-F9E49BDD5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09709"/>
            <a:ext cx="10317544" cy="5767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Events Captured: 43,303 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Time Period: March 2026 (24days) 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Unique Sessions: 236 Cowrie sessions analyzed 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Distribution: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Dionaea (malware): 99.2% (30,000+ events)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Cowrie (SSH): 0.8% (500+ events)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Sources: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Top attacker IPs: 223.178.85.50, 185.201.147.210, 130.12.180.51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Attack vectors: SSH brute-force, malware uploads, reconnaissance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295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71A42-DDFD-5819-B86C-B8789CE1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2117-8C14-F62E-CAAC-986E5FE7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47B925A2-AC56-C04F-112B-554528376195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65BCFCD7-0E6C-1856-9E4D-8EEAB5013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89" y="886626"/>
            <a:ext cx="10317544" cy="4828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Performance: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Results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Sessions analyzed: 236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- Anomalies detected: 2 (22%)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- Normal sessions: 7 (78%)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Patterns: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Download attempts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curl)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Privilege escalation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Reconnaissance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whoami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735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24B5-DDD3-F604-86BB-9EA03A0D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953B-F079-8214-FB2B-6F3CB1F6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1D75493A-9B70-2147-D3DF-9CFA2395E023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008FA7D-E1AB-DDD6-A0C5-026D5DAE8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30" y="1238866"/>
            <a:ext cx="8131278" cy="487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841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5F26-DE25-8909-3043-9B5D0F54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115F-3467-9AB8-5F9B-BF4B8001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B72B2BF4-601A-0529-1B9C-880D92853D5B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3EEAA36-53DD-2C4F-BC74-C1777E3FC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038" y="1238643"/>
            <a:ext cx="7329922" cy="502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20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52ED-260D-A12D-B5EA-9C34E539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5047-179B-5035-A27D-FFD90959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14DA15F9-DE2C-8903-28AC-1CA622CE3553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0AAF5A-CAA5-F12E-2226-45389BE3532F}"/>
              </a:ext>
            </a:extLst>
          </p:cNvPr>
          <p:cNvSpPr txBox="1"/>
          <p:nvPr/>
        </p:nvSpPr>
        <p:spPr>
          <a:xfrm>
            <a:off x="838200" y="1396181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Real-time anomaly detection is feasible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ML model successfully distinguished anomalous sessions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Average scoring time &lt;500ms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Behavioral features are effective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Download attempts, privilege escalation, and reconnaissance commands strongly correlate with malicious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intent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Adaptive approach is viable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System demonstrated capability to make contextual decisions based on attacker behavior</a:t>
            </a:r>
          </a:p>
        </p:txBody>
      </p:sp>
    </p:spTree>
    <p:extLst>
      <p:ext uri="{BB962C8B-B14F-4D97-AF65-F5344CB8AC3E}">
        <p14:creationId xmlns:p14="http://schemas.microsoft.com/office/powerpoint/2010/main" val="2464250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0DF4-46E6-E399-32A5-4D412793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24E9-BC9A-4D29-FE2E-E08398C6E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6"/>
            <a:ext cx="10515600" cy="1004770"/>
          </a:xfrm>
        </p:spPr>
        <p:txBody>
          <a:bodyPr>
            <a:noAutofit/>
          </a:bodyPr>
          <a:lstStyle/>
          <a:p>
            <a:pPr marL="11430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Mitigations</a:t>
            </a:r>
          </a:p>
        </p:txBody>
      </p:sp>
      <p:cxnSp>
        <p:nvCxnSpPr>
          <p:cNvPr id="3" name="Google Shape;108;g160d35f11e3_30_8">
            <a:extLst>
              <a:ext uri="{FF2B5EF4-FFF2-40B4-BE49-F238E27FC236}">
                <a16:creationId xmlns:a16="http://schemas.microsoft.com/office/drawing/2014/main" id="{952CC53B-914D-36D3-6605-9DC9ADEEAA80}"/>
              </a:ext>
            </a:extLst>
          </p:cNvPr>
          <p:cNvCxnSpPr>
            <a:cxnSpLocks/>
          </p:cNvCxnSpPr>
          <p:nvPr/>
        </p:nvCxnSpPr>
        <p:spPr>
          <a:xfrm>
            <a:off x="783076" y="1025125"/>
            <a:ext cx="10625847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6CD132-B2A4-BAEC-4A39-144F5820FDE9}"/>
              </a:ext>
            </a:extLst>
          </p:cNvPr>
          <p:cNvSpPr txBox="1"/>
          <p:nvPr/>
        </p:nvSpPr>
        <p:spPr>
          <a:xfrm>
            <a:off x="838200" y="1406013"/>
            <a:ext cx="105156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lvl="1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Lab environment only (not production-facing)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Limited dataset size (236 sessions)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Adaptive actions logged but not executed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Single honeypot instance (not distributed)</a:t>
            </a:r>
          </a:p>
          <a:p>
            <a:pPr lvl="1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</a:t>
            </a:r>
          </a:p>
          <a:p>
            <a:pPr lvl="1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Proof-of-concept demonstrates viability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Longer deployment would yield more data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Execution layer is future work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Architecture supports multi-honeypot scaling</a:t>
            </a:r>
          </a:p>
        </p:txBody>
      </p:sp>
    </p:spTree>
    <p:extLst>
      <p:ext uri="{BB962C8B-B14F-4D97-AF65-F5344CB8AC3E}">
        <p14:creationId xmlns:p14="http://schemas.microsoft.com/office/powerpoint/2010/main" val="2729977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60d35f11e3_154_0"/>
          <p:cNvSpPr txBox="1">
            <a:spLocks noGrp="1"/>
          </p:cNvSpPr>
          <p:nvPr>
            <p:ph type="title"/>
          </p:nvPr>
        </p:nvSpPr>
        <p:spPr>
          <a:xfrm>
            <a:off x="734150" y="59961"/>
            <a:ext cx="10515600" cy="75948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38761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Google Shape;176;g160d35f11e3_154_0"/>
          <p:cNvCxnSpPr>
            <a:cxnSpLocks/>
          </p:cNvCxnSpPr>
          <p:nvPr/>
        </p:nvCxnSpPr>
        <p:spPr>
          <a:xfrm>
            <a:off x="867196" y="821842"/>
            <a:ext cx="10249508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0F2B0A-65B4-8D67-DD45-93E0F36544AF}"/>
              </a:ext>
            </a:extLst>
          </p:cNvPr>
          <p:cNvSpPr txBox="1"/>
          <p:nvPr/>
        </p:nvSpPr>
        <p:spPr>
          <a:xfrm>
            <a:off x="734149" y="834439"/>
            <a:ext cx="10853247" cy="6067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Duplys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Sisejkovic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Menth, "A survey of contemporary open-source honeypots, frameworks, and tools,"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Network and Computer Applications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220, p. 103737, Nov. 2023. 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Huang and Q. Zhu, "Adaptive honeypot engagement through reinforcement learning of semi-Markov decision processes," in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GameSec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LNCS vol. 11836, pp. 196–216, 2019. 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Dowling, M.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Schukat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E. Barrett, "Using reinforcement learning to conceal honeypot functionality," in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ECML PKDD 2018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LNCS vol. 11053, pp. 341–355, Springer, 2019. 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Satpute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Nikam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Gaikwad, Y.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Kakade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Mhaske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"AI-driven intrusion detection system using SSH honeypots,"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ICCK Transactions on Cybersecurity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1, no. 1, pp. 3–12, 2025. DOI: 10.62762/TC.2025.521799 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A.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Prasetyo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Herianto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Yahya, and N.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Syamsiyah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"Detection of SSH brute force attacks using Naïve Bayes classification on Cowrie honeypot logs in a virtualized environment,"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TIFDA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1, pp. 62–65, 2025. DOI: 10.70491/tifda.v2i1.88</a:t>
            </a:r>
          </a:p>
          <a:p>
            <a:pPr>
              <a:lnSpc>
                <a:spcPct val="150000"/>
              </a:lnSpc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Tzovaras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"Optimizing Internet of Things honeypots with machine learning: A review,"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10, p. 5251, May 2025. DOI: 10.3390/app15105251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60d35f11e3_154_12"/>
          <p:cNvSpPr txBox="1">
            <a:spLocks noGrp="1"/>
          </p:cNvSpPr>
          <p:nvPr>
            <p:ph type="body" idx="1"/>
          </p:nvPr>
        </p:nvSpPr>
        <p:spPr>
          <a:xfrm>
            <a:off x="838200" y="823675"/>
            <a:ext cx="10515600" cy="53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400" b="1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400" b="1">
              <a:solidFill>
                <a:srgbClr val="38761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3430</Words>
  <Application>Microsoft Office PowerPoint</Application>
  <PresentationFormat>Widescreen</PresentationFormat>
  <Paragraphs>353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PowerPoint Presentation</vt:lpstr>
      <vt:lpstr>Outline</vt:lpstr>
      <vt:lpstr>Abstract</vt:lpstr>
      <vt:lpstr>Abstract</vt:lpstr>
      <vt:lpstr>Objective and Scope of the Project</vt:lpstr>
      <vt:lpstr>Objective and Scope of the Project</vt:lpstr>
      <vt:lpstr>Introduction</vt:lpstr>
      <vt:lpstr>Literature Review</vt:lpstr>
      <vt:lpstr>Existing System</vt:lpstr>
      <vt:lpstr>Proposed System</vt:lpstr>
      <vt:lpstr>Hardware and Software Requirements</vt:lpstr>
      <vt:lpstr>Architecture Diagram</vt:lpstr>
      <vt:lpstr>List Of Modules</vt:lpstr>
      <vt:lpstr>Modules Explanation</vt:lpstr>
      <vt:lpstr>Modules Explanation</vt:lpstr>
      <vt:lpstr>Methodology</vt:lpstr>
      <vt:lpstr>Methodology</vt:lpstr>
      <vt:lpstr>Methodology</vt:lpstr>
      <vt:lpstr>Algorithm Details</vt:lpstr>
      <vt:lpstr>Algorithm Details</vt:lpstr>
      <vt:lpstr>Coding</vt:lpstr>
      <vt:lpstr>Coding</vt:lpstr>
      <vt:lpstr>Coding</vt:lpstr>
      <vt:lpstr>Results &amp; Conclusion</vt:lpstr>
      <vt:lpstr>Results &amp; Conclusion</vt:lpstr>
      <vt:lpstr>Results &amp; Conclusion</vt:lpstr>
      <vt:lpstr>Results &amp; Conclusion</vt:lpstr>
      <vt:lpstr>Discussion</vt:lpstr>
      <vt:lpstr>Limitations &amp; Mitigations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santhosh s</cp:lastModifiedBy>
  <cp:revision>13</cp:revision>
  <dcterms:created xsi:type="dcterms:W3CDTF">2021-06-10T05:32:34Z</dcterms:created>
  <dcterms:modified xsi:type="dcterms:W3CDTF">2026-03-22T13:20:01Z</dcterms:modified>
</cp:coreProperties>
</file>